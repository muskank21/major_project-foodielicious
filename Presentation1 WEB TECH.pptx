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9B5F-0969-4427-A7EF-FA00ED719CE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76B5-59B8-44A0-97D0-3C14DCB25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331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9B5F-0969-4427-A7EF-FA00ED719CE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76B5-59B8-44A0-97D0-3C14DCB25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0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9B5F-0969-4427-A7EF-FA00ED719CE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76B5-59B8-44A0-97D0-3C14DCB25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621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9B5F-0969-4427-A7EF-FA00ED719CE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76B5-59B8-44A0-97D0-3C14DCB25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604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9B5F-0969-4427-A7EF-FA00ED719CE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76B5-59B8-44A0-97D0-3C14DCB25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0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9B5F-0969-4427-A7EF-FA00ED719CE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76B5-59B8-44A0-97D0-3C14DCB25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39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9B5F-0969-4427-A7EF-FA00ED719CE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76B5-59B8-44A0-97D0-3C14DCB25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849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9B5F-0969-4427-A7EF-FA00ED719CE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76B5-59B8-44A0-97D0-3C14DCB25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962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9B5F-0969-4427-A7EF-FA00ED719CE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76B5-59B8-44A0-97D0-3C14DCB25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396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9B5F-0969-4427-A7EF-FA00ED719CE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76B5-59B8-44A0-97D0-3C14DCB25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30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9B5F-0969-4427-A7EF-FA00ED719CE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76B5-59B8-44A0-97D0-3C14DCB25AD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3987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9B5F-0969-4427-A7EF-FA00ED719CE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76B5-59B8-44A0-97D0-3C14DCB25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216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9B5F-0969-4427-A7EF-FA00ED719CE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76B5-59B8-44A0-97D0-3C14DCB25AD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6603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9B5F-0969-4427-A7EF-FA00ED719CE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76B5-59B8-44A0-97D0-3C14DCB25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835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9B5F-0969-4427-A7EF-FA00ED719CE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76B5-59B8-44A0-97D0-3C14DCB25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809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9B5F-0969-4427-A7EF-FA00ED719CE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76B5-59B8-44A0-97D0-3C14DCB25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6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E9B5F-0969-4427-A7EF-FA00ED719CE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20576B5-59B8-44A0-97D0-3C14DCB25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440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840D9D-95FF-7AE8-CCC3-FCB253A3A22C}"/>
              </a:ext>
            </a:extLst>
          </p:cNvPr>
          <p:cNvSpPr txBox="1"/>
          <p:nvPr/>
        </p:nvSpPr>
        <p:spPr>
          <a:xfrm>
            <a:off x="2241755" y="1189821"/>
            <a:ext cx="742335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="1" i="0" dirty="0">
                <a:solidFill>
                  <a:schemeClr val="accent2"/>
                </a:solidFill>
                <a:effectLst/>
                <a:latin typeface="quote-cjk-patch"/>
              </a:rPr>
              <a:t>Food Delivery App System</a:t>
            </a:r>
            <a:br>
              <a:rPr lang="en-GB" dirty="0"/>
            </a:br>
            <a:r>
              <a:rPr lang="en-GB" b="0" i="0" dirty="0">
                <a:solidFill>
                  <a:schemeClr val="accent2">
                    <a:lumMod val="50000"/>
                  </a:schemeClr>
                </a:solidFill>
                <a:effectLst/>
                <a:latin typeface="quote-cjk-patch"/>
              </a:rPr>
              <a:t>Empowering Small &amp; Local Food Businesses</a:t>
            </a:r>
          </a:p>
          <a:p>
            <a:r>
              <a:rPr lang="en-GB" sz="3200" dirty="0">
                <a:solidFill>
                  <a:schemeClr val="accent5"/>
                </a:solidFill>
                <a:latin typeface="Brush Script MT" panose="03060802040406070304" pitchFamily="66" charset="0"/>
              </a:rPr>
              <a:t>FOODELICIOUS</a:t>
            </a:r>
          </a:p>
          <a:p>
            <a:endParaRPr lang="en-GB" sz="3200" dirty="0">
              <a:solidFill>
                <a:schemeClr val="accent2">
                  <a:lumMod val="50000"/>
                </a:schemeClr>
              </a:solidFill>
              <a:latin typeface="quote-cjk-patch"/>
            </a:endParaRPr>
          </a:p>
          <a:p>
            <a:endParaRPr lang="en-GB" sz="3200" dirty="0">
              <a:solidFill>
                <a:schemeClr val="accent2">
                  <a:lumMod val="50000"/>
                </a:schemeClr>
              </a:solidFill>
              <a:latin typeface="quote-cjk-patch"/>
            </a:endParaRPr>
          </a:p>
          <a:p>
            <a:br>
              <a:rPr lang="en-GB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21FECD-D3A8-42AB-2277-65D2DB6A3BA4}"/>
              </a:ext>
            </a:extLst>
          </p:cNvPr>
          <p:cNvSpPr txBox="1"/>
          <p:nvPr/>
        </p:nvSpPr>
        <p:spPr>
          <a:xfrm>
            <a:off x="3077497" y="3162547"/>
            <a:ext cx="68727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MUSKAN KUMARI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CS-2341807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3CSE9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Ms. Parul Saini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0E2DDA-48CF-5288-5E33-0D67E69BE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48" y="155621"/>
            <a:ext cx="2664214" cy="8869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2E3E40-7933-5679-2574-B2B339882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6875" y1="26625" x2="46875" y2="26625"/>
                        <a14:foregroundMark x1="46875" y1="26625" x2="46125" y2="27500"/>
                        <a14:foregroundMark x1="48500" y1="31000" x2="50750" y2="29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560" y="4476422"/>
            <a:ext cx="2969260" cy="2969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13763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C65030-BBCE-F54A-FFFB-9F8BA87A934C}"/>
              </a:ext>
            </a:extLst>
          </p:cNvPr>
          <p:cNvSpPr txBox="1"/>
          <p:nvPr/>
        </p:nvSpPr>
        <p:spPr>
          <a:xfrm>
            <a:off x="468343" y="474345"/>
            <a:ext cx="935637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Problem Statement:</a:t>
            </a:r>
          </a:p>
          <a:p>
            <a:endParaRPr lang="en-GB" dirty="0"/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Big food delivery apps like Zomato &amp; Swiggy charge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25% to 30% commission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per order.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restaurants, street food vendors, and home-based kitchens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cannot afford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such high charges.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local businesses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remain offline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or lose customers.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also miss out on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 local food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because it's not available online.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platforms are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 complex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for small vendors to understand and use.</a:t>
            </a: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➡️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Need: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low-cost, simple, and local-friendly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food delivery system</a:t>
            </a: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/>
            </a:br>
            <a:endParaRPr lang="en-IN" dirty="0"/>
          </a:p>
        </p:txBody>
      </p:sp>
      <p:pic>
        <p:nvPicPr>
          <p:cNvPr id="4" name="Graphic 3" descr="Fork and knife with solid fill">
            <a:extLst>
              <a:ext uri="{FF2B5EF4-FFF2-40B4-BE49-F238E27FC236}">
                <a16:creationId xmlns:a16="http://schemas.microsoft.com/office/drawing/2014/main" id="{0FCACCCD-13D9-BF63-4EC5-294CFEE02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7080" y="5593080"/>
            <a:ext cx="1264920" cy="126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885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48E742-16C1-9449-D076-E2B3C334347A}"/>
              </a:ext>
            </a:extLst>
          </p:cNvPr>
          <p:cNvSpPr txBox="1"/>
          <p:nvPr/>
        </p:nvSpPr>
        <p:spPr>
          <a:xfrm>
            <a:off x="528320" y="375920"/>
            <a:ext cx="8402320" cy="503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GB" b="1" dirty="0">
                <a:solidFill>
                  <a:srgbClr val="F9FAFB"/>
                </a:solidFill>
                <a:effectLst/>
                <a:latin typeface="quote-cjk-patch"/>
              </a:rPr>
              <a:t>Objective</a:t>
            </a:r>
          </a:p>
          <a:p>
            <a:r>
              <a:rPr lang="en-GB" sz="3600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en-GB" sz="3600" b="1" dirty="0">
                <a:solidFill>
                  <a:srgbClr val="00B0F0"/>
                </a:solidFill>
              </a:rPr>
              <a:t>Objective</a:t>
            </a:r>
          </a:p>
          <a:p>
            <a:endParaRPr lang="en-GB" sz="4000" b="1" dirty="0">
              <a:solidFill>
                <a:srgbClr val="00B0F0"/>
              </a:solidFill>
            </a:endParaRP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design and develop a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web-based food delivery application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restaurants, street food stalls, and home-based food businesses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a platform with:</a:t>
            </a:r>
          </a:p>
          <a:p>
            <a:pPr lvl="1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commission charges (5-10%)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user interface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 Hindi &amp; English</a:t>
            </a:r>
          </a:p>
          <a:p>
            <a:pPr lvl="1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hidden fees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 order management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 small food businesses go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and grow</a:t>
            </a:r>
            <a:r>
              <a:rPr lang="en-GB" dirty="0"/>
              <a:t>.</a:t>
            </a:r>
          </a:p>
        </p:txBody>
      </p:sp>
      <p:pic>
        <p:nvPicPr>
          <p:cNvPr id="5" name="Graphic 4" descr="Table setting with solid fill">
            <a:extLst>
              <a:ext uri="{FF2B5EF4-FFF2-40B4-BE49-F238E27FC236}">
                <a16:creationId xmlns:a16="http://schemas.microsoft.com/office/drawing/2014/main" id="{033A2F02-82BF-A154-63B7-144A9BE4F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2720" y="5410632"/>
            <a:ext cx="1696720" cy="169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83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85121D-8B0E-DCB9-B2A7-5D39E141E9B2}"/>
              </a:ext>
            </a:extLst>
          </p:cNvPr>
          <p:cNvSpPr txBox="1"/>
          <p:nvPr/>
        </p:nvSpPr>
        <p:spPr>
          <a:xfrm>
            <a:off x="648928" y="560439"/>
            <a:ext cx="874907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Key Features </a:t>
            </a:r>
            <a:r>
              <a:rPr lang="en-GB" b="1" dirty="0"/>
              <a:t>(For Small Businesses)</a:t>
            </a:r>
          </a:p>
          <a:p>
            <a:endParaRPr lang="en-GB" b="1" dirty="0"/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 Registration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for first 3 months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Commission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(only 5-10% per order)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Order Acceptance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– Accept or reject orders based on kitchen availability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 Delivery or Platform Delivery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– Flexibility to use their own rider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Multi-Language Dashboard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– Hindi &amp; English support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Interface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– Big buttons, easy to understand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Technical Knowledge Required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Transparent Earnings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– Daily/weekly/monthly reports</a:t>
            </a:r>
          </a:p>
          <a:p>
            <a:br>
              <a:rPr lang="en-GB" dirty="0"/>
            </a:br>
            <a:endParaRPr lang="en-IN" dirty="0"/>
          </a:p>
        </p:txBody>
      </p:sp>
      <p:pic>
        <p:nvPicPr>
          <p:cNvPr id="5" name="Graphic 4" descr="Table setting with solid fill">
            <a:extLst>
              <a:ext uri="{FF2B5EF4-FFF2-40B4-BE49-F238E27FC236}">
                <a16:creationId xmlns:a16="http://schemas.microsoft.com/office/drawing/2014/main" id="{B1216356-885C-D2DE-BC5A-59A1BD3FD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4960" y="5303520"/>
            <a:ext cx="1554480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07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03C17-4610-D136-1C8F-E26138E50568}"/>
              </a:ext>
            </a:extLst>
          </p:cNvPr>
          <p:cNvSpPr txBox="1"/>
          <p:nvPr/>
        </p:nvSpPr>
        <p:spPr>
          <a:xfrm>
            <a:off x="648929" y="629264"/>
            <a:ext cx="804803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 </a:t>
            </a:r>
            <a:r>
              <a:rPr lang="en-GB" sz="3600" b="1" dirty="0">
                <a:solidFill>
                  <a:srgbClr val="00B0F0"/>
                </a:solidFill>
              </a:rPr>
              <a:t>Key Features </a:t>
            </a:r>
            <a:r>
              <a:rPr lang="en-GB" b="1" dirty="0"/>
              <a:t>(For Customers)</a:t>
            </a:r>
          </a:p>
          <a:p>
            <a:endParaRPr lang="en-GB" b="1" dirty="0"/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Browse Local Restaurants &amp; Street Food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near you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by Food Type, Price, or Location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to Cart &amp; Place Order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easily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Order Tracking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– Live status update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Payment Options: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UPI (Google Pay, Phone Pay, Paytm)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Cash on Delivery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Debit/Credit Card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Rate &amp; Review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food and restaurants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 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History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– Reorder easily</a:t>
            </a:r>
          </a:p>
          <a:p>
            <a:endParaRPr lang="en-IN" dirty="0"/>
          </a:p>
        </p:txBody>
      </p:sp>
      <p:pic>
        <p:nvPicPr>
          <p:cNvPr id="3" name="Graphic 2" descr="Table setting with solid fill">
            <a:extLst>
              <a:ext uri="{FF2B5EF4-FFF2-40B4-BE49-F238E27FC236}">
                <a16:creationId xmlns:a16="http://schemas.microsoft.com/office/drawing/2014/main" id="{1AB504A8-6F92-2BE4-A0AF-88CE645FB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4960" y="5303520"/>
            <a:ext cx="1554480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9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EB0F7B-FF39-416C-25E3-515246484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499723"/>
              </p:ext>
            </p:extLst>
          </p:nvPr>
        </p:nvGraphicFramePr>
        <p:xfrm>
          <a:off x="629920" y="1432560"/>
          <a:ext cx="8128000" cy="3828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4214768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35748087"/>
                    </a:ext>
                  </a:extLst>
                </a:gridCol>
              </a:tblGrid>
              <a:tr h="417149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Layer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Technology Used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356966"/>
                  </a:ext>
                </a:extLst>
              </a:tr>
              <a:tr h="417149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HTML, CSS, JavaScript, React.js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836240"/>
                  </a:ext>
                </a:extLst>
              </a:tr>
              <a:tr h="720010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Node.js / PHP (Laravel) / Python (Django)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389128"/>
                  </a:ext>
                </a:extLst>
              </a:tr>
              <a:tr h="417149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MySQL / MongoDB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55652"/>
                  </a:ext>
                </a:extLst>
              </a:tr>
              <a:tr h="720010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Google Maps API,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Razorpay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Stripe (Payments)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844992"/>
                  </a:ext>
                </a:extLst>
              </a:tr>
              <a:tr h="720010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Languages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English, Hindi (Multi-language support)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195711"/>
                  </a:ext>
                </a:extLst>
              </a:tr>
              <a:tr h="417149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VS Code, Git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9098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CCAE44C-5110-10D0-C878-ECD25988E02C}"/>
              </a:ext>
            </a:extLst>
          </p:cNvPr>
          <p:cNvSpPr txBox="1"/>
          <p:nvPr/>
        </p:nvSpPr>
        <p:spPr>
          <a:xfrm>
            <a:off x="538480" y="762730"/>
            <a:ext cx="6101080" cy="435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IN" sz="3600" b="1" dirty="0">
                <a:solidFill>
                  <a:srgbClr val="00B0F0"/>
                </a:solidFill>
                <a:effectLst/>
                <a:latin typeface="+mj-lt"/>
              </a:rPr>
              <a:t>Technology Stack</a:t>
            </a:r>
          </a:p>
        </p:txBody>
      </p:sp>
      <p:pic>
        <p:nvPicPr>
          <p:cNvPr id="6" name="Graphic 5" descr="Table setting with solid fill">
            <a:extLst>
              <a:ext uri="{FF2B5EF4-FFF2-40B4-BE49-F238E27FC236}">
                <a16:creationId xmlns:a16="http://schemas.microsoft.com/office/drawing/2014/main" id="{8828D1A4-A751-396A-04A4-F34F061A2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4960" y="5303520"/>
            <a:ext cx="1554480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180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213417-E78A-B67A-5C09-5935D194A679}"/>
              </a:ext>
            </a:extLst>
          </p:cNvPr>
          <p:cNvSpPr txBox="1"/>
          <p:nvPr/>
        </p:nvSpPr>
        <p:spPr>
          <a:xfrm>
            <a:off x="449580" y="772890"/>
            <a:ext cx="8796020" cy="419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IN" sz="3600" b="1" dirty="0">
                <a:solidFill>
                  <a:srgbClr val="00B0F0"/>
                </a:solidFill>
                <a:effectLst/>
                <a:latin typeface="+mj-lt"/>
              </a:rPr>
              <a:t>System Architecture (FLOWCHART)</a:t>
            </a:r>
            <a:endParaRPr lang="en-IN" sz="3600" b="1" dirty="0">
              <a:solidFill>
                <a:srgbClr val="F9FAFB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22B91-FE64-D799-1BBD-44AACAA967EA}"/>
              </a:ext>
            </a:extLst>
          </p:cNvPr>
          <p:cNvSpPr txBox="1"/>
          <p:nvPr/>
        </p:nvSpPr>
        <p:spPr>
          <a:xfrm>
            <a:off x="3141980" y="1401088"/>
            <a:ext cx="76073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👤 </a:t>
            </a:r>
            <a:r>
              <a:rPr lang="en-IN" b="1" dirty="0"/>
              <a:t>USER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   🍽️ </a:t>
            </a:r>
            <a:r>
              <a:rPr lang="en-IN" b="1" dirty="0"/>
              <a:t>BROWSE RESTAURANTS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   🍔 </a:t>
            </a:r>
            <a:r>
              <a:rPr lang="en-IN" b="1" dirty="0"/>
              <a:t>SELECT FOOD ITEMS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   🛒 </a:t>
            </a:r>
            <a:r>
              <a:rPr lang="en-IN" b="1" dirty="0"/>
              <a:t>ADD TO CART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   📦 </a:t>
            </a:r>
            <a:r>
              <a:rPr lang="en-IN" b="1" dirty="0"/>
              <a:t>PLACE ORDER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   💳 </a:t>
            </a:r>
            <a:r>
              <a:rPr lang="en-IN" b="1" dirty="0"/>
              <a:t>PAYMENT GATEWAY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   ✅ </a:t>
            </a:r>
            <a:r>
              <a:rPr lang="en-IN" b="1" dirty="0"/>
              <a:t>ORDER CONFIRMED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   🚚 </a:t>
            </a:r>
            <a:r>
              <a:rPr lang="en-IN" b="1" dirty="0"/>
              <a:t>REAL-TIME TRACKING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   🏠 </a:t>
            </a:r>
            <a:r>
              <a:rPr lang="en-IN" b="1" dirty="0"/>
              <a:t>DELIVERY COMPLETE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   ⭐ </a:t>
            </a:r>
            <a:r>
              <a:rPr lang="en-IN" b="1" dirty="0"/>
              <a:t>RATING &amp; REVIEW</a:t>
            </a:r>
          </a:p>
        </p:txBody>
      </p:sp>
      <p:pic>
        <p:nvPicPr>
          <p:cNvPr id="6" name="Graphic 5" descr="Table setting with solid fill">
            <a:extLst>
              <a:ext uri="{FF2B5EF4-FFF2-40B4-BE49-F238E27FC236}">
                <a16:creationId xmlns:a16="http://schemas.microsoft.com/office/drawing/2014/main" id="{9C228A60-8075-B8EF-B744-58FE2DC056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4960" y="5303520"/>
            <a:ext cx="1554480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84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22C619-A779-ED3E-86D7-9495343E0295}"/>
              </a:ext>
            </a:extLst>
          </p:cNvPr>
          <p:cNvSpPr txBox="1"/>
          <p:nvPr/>
        </p:nvSpPr>
        <p:spPr>
          <a:xfrm>
            <a:off x="845820" y="617264"/>
            <a:ext cx="6101080" cy="419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IN" b="1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en-IN" sz="3600" b="1" dirty="0">
                <a:solidFill>
                  <a:srgbClr val="00B0F0"/>
                </a:solidFill>
                <a:effectLst/>
              </a:rPr>
              <a:t>Modules Description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C53A2-E73C-A2AF-F7E3-CA2F9B2BA2E8}"/>
              </a:ext>
            </a:extLst>
          </p:cNvPr>
          <p:cNvSpPr txBox="1"/>
          <p:nvPr/>
        </p:nvSpPr>
        <p:spPr>
          <a:xfrm>
            <a:off x="896620" y="903951"/>
            <a:ext cx="4030980" cy="577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Details: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1.User Module</a:t>
            </a:r>
            <a:endParaRPr lang="en-GB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GB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 / Login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GB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Browse restaurants &amp; menu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GB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 order &amp; make payment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GB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order &amp; give rating</a:t>
            </a:r>
          </a:p>
          <a:p>
            <a:pPr lvl="1" algn="l">
              <a:spcBef>
                <a:spcPts val="450"/>
              </a:spcBef>
              <a:spcAft>
                <a:spcPts val="1200"/>
              </a:spcAft>
            </a:pPr>
            <a:endParaRPr lang="en-GB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450"/>
              </a:spcBef>
              <a:spcAft>
                <a:spcPts val="600"/>
              </a:spcAft>
            </a:pPr>
            <a:r>
              <a:rPr lang="en-GB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2.Restaurant Module</a:t>
            </a:r>
            <a:endParaRPr lang="en-GB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GB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Add/Update menu with prices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GB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 incoming orders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GB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Accept or reject orders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GB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 earnings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207D1-CFC5-0015-BC7D-2DFAEE9C2B11}"/>
              </a:ext>
            </a:extLst>
          </p:cNvPr>
          <p:cNvSpPr txBox="1"/>
          <p:nvPr/>
        </p:nvSpPr>
        <p:spPr>
          <a:xfrm>
            <a:off x="5100320" y="2278204"/>
            <a:ext cx="61010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600"/>
              </a:spcAft>
            </a:pPr>
            <a:r>
              <a:rPr lang="en-GB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3.Delivery Module</a:t>
            </a:r>
            <a:endParaRPr lang="en-GB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GB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assigned orders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GB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delivery status (Picked Up, On the Way, Delivered)</a:t>
            </a:r>
          </a:p>
          <a:p>
            <a:pPr lvl="1" algn="l">
              <a:spcBef>
                <a:spcPts val="450"/>
              </a:spcBef>
              <a:spcAft>
                <a:spcPts val="1200"/>
              </a:spcAft>
            </a:pPr>
            <a:endParaRPr lang="en-GB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450"/>
              </a:spcBef>
              <a:spcAft>
                <a:spcPts val="600"/>
              </a:spcAft>
            </a:pPr>
            <a:r>
              <a:rPr lang="en-GB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4.Admin Module</a:t>
            </a:r>
            <a:endParaRPr lang="en-GB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GB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 users, restaurants, delivery boys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GB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orders and payments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GB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commission rates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GB" b="0" i="0" dirty="0">
                <a:solidFill>
                  <a:srgbClr val="F9FAFB"/>
                </a:solidFill>
                <a:effectLst/>
                <a:latin typeface="quote-cjk-patch"/>
              </a:rPr>
              <a:t>Generate reports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0C3105-E351-9089-58D3-D0A6AE0CB038}"/>
              </a:ext>
            </a:extLst>
          </p:cNvPr>
          <p:cNvCxnSpPr>
            <a:cxnSpLocks/>
          </p:cNvCxnSpPr>
          <p:nvPr/>
        </p:nvCxnSpPr>
        <p:spPr>
          <a:xfrm>
            <a:off x="4927600" y="1442720"/>
            <a:ext cx="0" cy="5106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4F2CBA-BFDD-D49C-AD5A-7BC1C8655CAD}"/>
              </a:ext>
            </a:extLst>
          </p:cNvPr>
          <p:cNvCxnSpPr/>
          <p:nvPr/>
        </p:nvCxnSpPr>
        <p:spPr>
          <a:xfrm>
            <a:off x="629920" y="4206240"/>
            <a:ext cx="91338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0290FA2-B1D1-8839-0BA9-1941798C3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7375" y1="24875" x2="47375" y2="24875"/>
                        <a14:foregroundMark x1="48125" y1="27125" x2="48125" y2="27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106" y="2278204"/>
            <a:ext cx="2552988" cy="2552988"/>
          </a:xfrm>
          <a:prstGeom prst="rect">
            <a:avLst/>
          </a:prstGeom>
        </p:spPr>
      </p:pic>
      <p:pic>
        <p:nvPicPr>
          <p:cNvPr id="15" name="Graphic 14" descr="Table setting with solid fill">
            <a:extLst>
              <a:ext uri="{FF2B5EF4-FFF2-40B4-BE49-F238E27FC236}">
                <a16:creationId xmlns:a16="http://schemas.microsoft.com/office/drawing/2014/main" id="{92DB12B5-E7DB-A28A-8281-715E15F669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74960" y="5303520"/>
            <a:ext cx="1554480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9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BD1BCA-517F-E5BA-9649-7D19493D8EB5}"/>
              </a:ext>
            </a:extLst>
          </p:cNvPr>
          <p:cNvSpPr txBox="1"/>
          <p:nvPr/>
        </p:nvSpPr>
        <p:spPr>
          <a:xfrm>
            <a:off x="1026160" y="1509961"/>
            <a:ext cx="8023860" cy="354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aims to build a </a:t>
            </a:r>
            <a:r>
              <a:rPr lang="en-GB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delivery platform with a social cause</a:t>
            </a:r>
            <a:r>
              <a:rPr lang="en-GB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– helping small businesses grow.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 </a:t>
            </a:r>
            <a:r>
              <a:rPr lang="en-GB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low-cost, simple, and focused on local needs</a:t>
            </a:r>
            <a:r>
              <a:rPr lang="en-GB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bridges the gap between </a:t>
            </a:r>
            <a:r>
              <a:rPr lang="en-GB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food lovers and small restaurants</a:t>
            </a:r>
            <a:r>
              <a:rPr lang="en-GB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Promotes the idea: </a:t>
            </a:r>
            <a:r>
              <a:rPr lang="en-GB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"Support Local, Eat Fresh"</a:t>
            </a:r>
            <a:r>
              <a:rPr lang="en-GB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Technically strong, scalable, and user-friendly</a:t>
            </a:r>
            <a:r>
              <a:rPr lang="en-GB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DCCA15-CD15-7516-98E8-59B92182658E}"/>
              </a:ext>
            </a:extLst>
          </p:cNvPr>
          <p:cNvSpPr txBox="1"/>
          <p:nvPr/>
        </p:nvSpPr>
        <p:spPr>
          <a:xfrm>
            <a:off x="1127760" y="684658"/>
            <a:ext cx="3992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B0F0"/>
                </a:solidFill>
              </a:rPr>
              <a:t>Conclusion</a:t>
            </a:r>
          </a:p>
        </p:txBody>
      </p:sp>
      <p:pic>
        <p:nvPicPr>
          <p:cNvPr id="5" name="Graphic 4" descr="Table setting with solid fill">
            <a:extLst>
              <a:ext uri="{FF2B5EF4-FFF2-40B4-BE49-F238E27FC236}">
                <a16:creationId xmlns:a16="http://schemas.microsoft.com/office/drawing/2014/main" id="{B73C196F-38A8-F424-6F25-23A5711F8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4960" y="5303520"/>
            <a:ext cx="1554480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41C966-EB12-D36E-5770-BC7EF81BF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393" y="-1675785"/>
            <a:ext cx="6858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B85E50-9D39-5C97-6069-1D1739F71CE0}"/>
              </a:ext>
            </a:extLst>
          </p:cNvPr>
          <p:cNvSpPr/>
          <p:nvPr/>
        </p:nvSpPr>
        <p:spPr>
          <a:xfrm>
            <a:off x="3597402" y="4749462"/>
            <a:ext cx="36006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CEC44-6976-17BD-36CA-E69AB1358CCB}"/>
              </a:ext>
            </a:extLst>
          </p:cNvPr>
          <p:cNvSpPr txBox="1"/>
          <p:nvPr/>
        </p:nvSpPr>
        <p:spPr>
          <a:xfrm>
            <a:off x="3597402" y="2509520"/>
            <a:ext cx="421563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accent5"/>
                </a:solidFill>
                <a:latin typeface="Brush Script MT" panose="03060802040406070304" pitchFamily="66" charset="0"/>
              </a:rPr>
              <a:t>FOODLICIOUS</a:t>
            </a:r>
          </a:p>
          <a:p>
            <a:r>
              <a:rPr lang="en-IN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 FRESH, FLAVORFUL</a:t>
            </a:r>
          </a:p>
        </p:txBody>
      </p:sp>
      <p:pic>
        <p:nvPicPr>
          <p:cNvPr id="7" name="Graphic 6" descr="Table setting with solid fill">
            <a:extLst>
              <a:ext uri="{FF2B5EF4-FFF2-40B4-BE49-F238E27FC236}">
                <a16:creationId xmlns:a16="http://schemas.microsoft.com/office/drawing/2014/main" id="{1D80844C-46CD-E9FB-6901-E6956A0109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74960" y="5303520"/>
            <a:ext cx="1554480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7682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658</TotalTime>
  <Words>625</Words>
  <Application>Microsoft Office PowerPoint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Brush Script MT</vt:lpstr>
      <vt:lpstr>Calibri</vt:lpstr>
      <vt:lpstr>quote-cjk-patch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Kumar</dc:creator>
  <cp:lastModifiedBy>Atul Kumar</cp:lastModifiedBy>
  <cp:revision>1</cp:revision>
  <dcterms:created xsi:type="dcterms:W3CDTF">2026-03-19T08:45:03Z</dcterms:created>
  <dcterms:modified xsi:type="dcterms:W3CDTF">2026-03-19T20:19:19Z</dcterms:modified>
</cp:coreProperties>
</file>